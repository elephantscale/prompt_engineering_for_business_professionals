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How Modern AI Assistants Actually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Can't steer a tool you don't understand — a practical mental model first.</a:t>
            </a:r>
          </a:p>
          <a:p>
            <a:r>
              <a:t> We skip the math — just enough to</a:t>
            </a:r>
            <a:r>
              <a:rPr b="1"/>
              <a:t> predict</a:t>
            </a:r>
            <a:r>
              <a:t> the assistant's behavior.</a:t>
            </a:r>
          </a:p>
          <a:p>
            <a:r>
              <a:t> By the end you can:</a:t>
            </a:r>
          </a:p>
          <a:p>
            <a:pPr lvl="1"/>
            <a:r>
              <a:t> Say in plain language what an LLM actually does.</a:t>
            </a:r>
          </a:p>
          <a:p>
            <a:pPr lvl="1"/>
            <a:r>
              <a:t> Explain</a:t>
            </a:r>
            <a:r>
              <a:rPr b="1"/>
              <a:t> tokens, context window, temperature, hallucination</a:t>
            </a:r>
            <a:r>
              <a:t> — no jargon.</a:t>
            </a:r>
          </a:p>
          <a:p>
            <a:pPr lvl="1"/>
            <a:r>
              <a:t> Pick a</a:t>
            </a:r>
            <a:r>
              <a:rPr b="1"/>
              <a:t> fast</a:t>
            </a:r>
            <a:r>
              <a:t> vs. a</a:t>
            </a:r>
            <a:r>
              <a:rPr b="1"/>
              <a:t> reasoning</a:t>
            </a:r>
            <a:r>
              <a:t> model on purpose.</a:t>
            </a:r>
          </a:p>
          <a:p>
            <a:pPr lvl="1"/>
            <a:r>
              <a:t> Choose deliberately between ChatGPT, Claude, Gemini.</a:t>
            </a:r>
          </a:p>
          <a:p>
            <a:pPr lvl="1"/>
            <a:r>
              <a:t> See</a:t>
            </a:r>
            <a:r>
              <a:rPr i="1"/>
              <a:t> why</a:t>
            </a:r>
            <a:r>
              <a:t> the prompt is the steering wheel.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628253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goal isn't to make you an engineer. It's to stop the assistant surprising you.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 Language Model Actually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One job:</a:t>
            </a:r>
            <a:r>
              <a:rPr b="1"/>
              <a:t> predict the next word</a:t>
            </a:r>
            <a:r>
              <a:t> , over and over, given everything so far.</a:t>
            </a:r>
          </a:p>
          <a:p>
            <a:pPr lvl="1"/>
            <a:r>
              <a:t> Trained on a staggering amount of text — learned the patterns of language.</a:t>
            </a:r>
          </a:p>
          <a:p>
            <a:pPr lvl="1"/>
            <a:r>
              <a:t> Your prompt + the chat so far = "everything so far." It continues it.</a:t>
            </a:r>
          </a:p>
          <a:p>
            <a:r>
              <a:t> This one fact explains almost all its behavior:</a:t>
            </a:r>
          </a:p>
          <a:p>
            <a:pPr lvl="1"/>
            <a:r>
              <a:rPr b="1"/>
              <a:t> Astonishingly fluent</a:t>
            </a:r>
            <a:r>
              <a:t> — fluency is what it was trained for.</a:t>
            </a:r>
          </a:p>
          <a:p>
            <a:pPr lvl="1"/>
            <a:r>
              <a:rPr b="1"/>
              <a:t> Confidently wrong</a:t>
            </a:r>
            <a:r>
              <a:t> — plausible ≠ true.</a:t>
            </a:r>
          </a:p>
          <a:p>
            <a:pPr lvl="1"/>
            <a:r>
              <a:rPr b="1"/>
              <a:t> No database to look in</a:t>
            </a:r>
            <a:r>
              <a:t> — unless you give it one (file, search tool).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628253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A pattern-completion engine, not a fact-retrieval engine. Fluent output = a draft to verify.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Overconfident Junior Colleague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Best mental model: a</a:t>
            </a:r>
            <a:r>
              <a:rPr b="1"/>
              <a:t> sharp, fast, slightly overconfident junior colleague</a:t>
            </a:r>
            <a:r>
              <a:t> .</a:t>
            </a:r>
          </a:p>
          <a:p>
            <a:pPr lvl="1"/>
            <a:r>
              <a:t> Brilliant at drafting, reformatting, summarizing, explaining itself.</a:t>
            </a:r>
          </a:p>
          <a:p>
            <a:pPr lvl="1"/>
            <a:r>
              <a:t> Occasionally wrong with total confidence — and won't flag it unless asked.</a:t>
            </a:r>
          </a:p>
          <a:p>
            <a:r>
              <a:t> Manage that colleague exactly how you prompt:</a:t>
            </a:r>
          </a:p>
          <a:p>
            <a:pPr lvl="1"/>
            <a:r>
              <a:rPr b="1"/>
              <a:t> Clear direction</a:t>
            </a:r>
            <a:r>
              <a:t> — what, for whom, in what form.</a:t>
            </a:r>
          </a:p>
          <a:p>
            <a:pPr lvl="1"/>
            <a:r>
              <a:rPr b="1"/>
              <a:t> Hand over the source</a:t>
            </a:r>
            <a:r>
              <a:t> — don't ask from memory.</a:t>
            </a:r>
          </a:p>
          <a:p>
            <a:pPr lvl="1"/>
            <a:r>
              <a:rPr b="1"/>
              <a:t> Review</a:t>
            </a:r>
            <a:r>
              <a:t> against your intent.</a:t>
            </a:r>
          </a:p>
          <a:p>
            <a:pPr lvl="1"/>
            <a:r>
              <a:t> Ask the</a:t>
            </a:r>
            <a:r>
              <a:rPr b="1"/>
              <a:t> catch-the-mistake</a:t>
            </a:r>
            <a:r>
              <a:t> follow-up.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605393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You already know how to get good work out of a talented junior. Prompting is that skill, typed.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Terms Without the Jargon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Model</a:t>
            </a:r>
            <a:r>
              <a:t> — the specific "brain" (GPT-5, Claude Opus, Gemini). Newer/larger = more capable, slower, pricier.</a:t>
            </a:r>
          </a:p>
          <a:p>
            <a:r>
              <a:rPr b="1"/>
              <a:t> Token</a:t>
            </a:r>
            <a:r>
              <a:t> — the chunk it reads and writes in. ~¾ of a word. Limits are measured in these.</a:t>
            </a:r>
          </a:p>
          <a:p>
            <a:r>
              <a:rPr b="1"/>
              <a:t> Context window</a:t>
            </a:r>
            <a:r>
              <a:t> — its short-term memory: prompt + attachments + conversation, in tokens.</a:t>
            </a:r>
          </a:p>
          <a:p>
            <a:pPr lvl="1"/>
            <a:r>
              <a:t> Huge today — a whole report fits. But</a:t>
            </a:r>
            <a:r>
              <a:rPr b="1"/>
              <a:t> not permanent</a:t>
            </a:r>
            <a:r>
              <a:t> — a new chat starts blank.</a:t>
            </a:r>
          </a:p>
          <a:p>
            <a:r>
              <a:rPr b="1"/>
              <a:t> Temperature</a:t>
            </a:r>
            <a:r>
              <a:t> — a creativity dial. Low = focused/repeatable, high = varied. Usually hidden.</a:t>
            </a:r>
          </a:p>
          <a:p>
            <a:r>
              <a:rPr b="1"/>
              <a:t> Hallucination</a:t>
            </a:r>
            <a:r>
              <a:t> — states something false as true. Not lying — pattern-completion gone wrong.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574243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No math here. Each term predicts a behavior you'll see in the labs.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the Same Question Gives Different 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Same question twice, two different answers. Why:</a:t>
            </a:r>
          </a:p>
          <a:p>
            <a:pPr lvl="1"/>
            <a:r>
              <a:rPr b="1"/>
              <a:t> Temperature</a:t>
            </a:r>
            <a:r>
              <a:t> — deliberate randomness in word choice.</a:t>
            </a:r>
          </a:p>
          <a:p>
            <a:pPr lvl="1"/>
            <a:r>
              <a:rPr b="1"/>
              <a:t> Memory / custom instructions</a:t>
            </a:r>
            <a:r>
              <a:t> — saved settings quietly reshape output.</a:t>
            </a:r>
          </a:p>
          <a:p>
            <a:pPr lvl="1"/>
            <a:r>
              <a:rPr b="1"/>
              <a:t> Model version</a:t>
            </a:r>
            <a:r>
              <a:t> — vendors update continuously; yesterday's answer isn't promised.</a:t>
            </a:r>
          </a:p>
          <a:p>
            <a:r>
              <a:t> So every</a:t>
            </a:r>
            <a:r>
              <a:rPr b="1"/>
              <a:t> comparison</a:t>
            </a:r>
            <a:r>
              <a:t> in this course starts from a clean slate:</a:t>
            </a:r>
          </a:p>
          <a:p>
            <a:pPr lvl="1"/>
            <a:r>
              <a:rPr b="1"/>
              <a:t> New or temporary chat</a:t>
            </a:r>
            <a:r>
              <a:t> , memory and custom instructions off.</a:t>
            </a:r>
          </a:p>
          <a:p>
            <a:pPr lvl="1"/>
            <a:r>
              <a:t> Otherwise you're comparing your settings, not the prompt or tool.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620633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"Same prompt, different answers" is the #1 confusion. Control the variables and it vanishes.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Reasoning Models vs. Fast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Every major assistant offers (at least) two speeds:</a:t>
            </a:r>
          </a:p>
          <a:p>
            <a:pPr lvl="1"/>
            <a:r>
              <a:rPr b="1"/>
              <a:t> Fast</a:t>
            </a:r>
            <a:r>
              <a:t> — answers immediately. Drafting, rewriting, quick summaries, high-volume simple tasks.</a:t>
            </a:r>
          </a:p>
          <a:p>
            <a:pPr lvl="1"/>
            <a:r>
              <a:rPr b="1"/>
              <a:t> Reasoning / "thinking"</a:t>
            </a:r>
            <a:r>
              <a:t> — works through steps first. Slower, pricier, better when a wrong</a:t>
            </a:r>
            <a:r>
              <a:rPr i="1"/>
              <a:t> middle</a:t>
            </a:r>
            <a:r>
              <a:t> step ruins the result.</a:t>
            </a:r>
          </a:p>
          <a:p>
            <a:r>
              <a:t> Rule of thumb:</a:t>
            </a:r>
          </a:p>
          <a:p>
            <a:pPr lvl="1"/>
            <a:r>
              <a:t> Draft an email, tidy notes →</a:t>
            </a:r>
            <a:r>
              <a:rPr b="1"/>
              <a:t> fast</a:t>
            </a:r>
            <a:r>
              <a:t> .</a:t>
            </a:r>
          </a:p>
          <a:p>
            <a:pPr lvl="1"/>
            <a:r>
              <a:t> Compare three contracts, analyze a dataset, plan a multi-step process →</a:t>
            </a:r>
            <a:r>
              <a:rPr b="1"/>
              <a:t> reasoning</a:t>
            </a:r>
            <a:r>
              <a:t> .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46788"/>
            <a:ext cx="9372600" cy="7052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5300" y="6265735"/>
            <a:ext cx="7507224" cy="1316736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Reasoning for "rewrite this sentence" wastes time. Fast for careful analysis invites a confident mistake. Match the model to the stakes.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2026 Assistant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Three frontier assistants dominate business use. Huge overlap — any handles ~80% of daily work. Differences show at the</a:t>
            </a:r>
            <a:r>
              <a:rPr b="1"/>
              <a:t> edges</a:t>
            </a:r>
            <a:r>
              <a:t> .</a:t>
            </a:r>
          </a:p>
          <a:p>
            <a:pPr lvl="1"/>
            <a:r>
              <a:rPr b="1"/>
              <a:t> ChatGPT (OpenAI)</a:t>
            </a:r>
            <a:r>
              <a:t> — our class tool. Broadest surface: data analysis, image gen, Custom GPTs &amp; Projects, voice, connectors (Gmail, Slack, Drive). The swiss-army default.</a:t>
            </a:r>
          </a:p>
          <a:p>
            <a:pPr lvl="1"/>
            <a:r>
              <a:rPr b="1"/>
              <a:t> Claude (Anthropic)</a:t>
            </a:r>
            <a:r>
              <a:t> — writing, careful long-document reading, complex multi-part instructions;</a:t>
            </a:r>
            <a:r>
              <a:rPr b="1"/>
              <a:t> flags its own uncertainty</a:t>
            </a:r>
            <a:r>
              <a:t> . Projects hold reusable context.</a:t>
            </a:r>
          </a:p>
          <a:p>
            <a:pPr lvl="1"/>
            <a:r>
              <a:rPr b="1"/>
              <a:t> Gemini (Google)</a:t>
            </a:r>
            <a:r>
              <a:t> — fits Google Workspace; very large context window; strong multimodal.</a:t>
            </a:r>
          </a:p>
          <a:p>
            <a:r>
              <a:t> In class you each use</a:t>
            </a:r>
            <a:r>
              <a:rPr b="1"/>
              <a:t> ChatGPT Enterprise</a:t>
            </a:r>
            <a:r>
              <a:t> (our Business workspace). Examples lead with ChatGPT; we note the Claude/Gemini equivalents.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70750" y="6512246"/>
            <a:ext cx="7507224" cy="1316736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No assistant is best at everything, and rankings shift every release. Treat any "X is smartest" claim as perishable.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Actually Choose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Don't argue "better" in the abstract — run the real task through a checklist:</a:t>
            </a:r>
          </a:p>
          <a:p>
            <a:pPr lvl="1"/>
            <a:r>
              <a:t> Accepts your</a:t>
            </a:r>
            <a:r>
              <a:rPr b="1"/>
              <a:t> file type</a:t>
            </a:r>
            <a:r>
              <a:t> (PDF, CSV, image)?</a:t>
            </a:r>
          </a:p>
          <a:p>
            <a:pPr lvl="1"/>
            <a:r>
              <a:t> Keeps the</a:t>
            </a:r>
            <a:r>
              <a:rPr b="1"/>
              <a:t> source boundary</a:t>
            </a:r>
            <a:r>
              <a:t> — your material, not its training?</a:t>
            </a:r>
          </a:p>
          <a:p>
            <a:pPr lvl="1"/>
            <a:r>
              <a:t> Produces the</a:t>
            </a:r>
            <a:r>
              <a:rPr b="1"/>
              <a:t> exact output format</a:t>
            </a:r>
            <a:r>
              <a:t> asked for?</a:t>
            </a:r>
          </a:p>
          <a:p>
            <a:pPr lvl="1"/>
            <a:r>
              <a:rPr b="1"/>
              <a:t> Flags uncertainty</a:t>
            </a:r>
            <a:r>
              <a:t> instead of bluffing?</a:t>
            </a:r>
          </a:p>
          <a:p>
            <a:pPr lvl="1"/>
            <a:r>
              <a:rPr b="1"/>
              <a:t> Enterprise policy</a:t>
            </a:r>
            <a:r>
              <a:t> allows this data in this tool?</a:t>
            </a:r>
          </a:p>
          <a:p>
            <a:r>
              <a:t> Two questions usually settle it:</a:t>
            </a:r>
          </a:p>
          <a:p>
            <a:pPr lvl="1"/>
            <a:r>
              <a:rPr b="1"/>
              <a:t> Where does your work already live?</a:t>
            </a:r>
            <a:r>
              <a:t> (Workspace → Gemini; Microsoft 365 → Copilot; mixed → ChatGPT or Claude.)</a:t>
            </a:r>
          </a:p>
          <a:p>
            <a:pPr lvl="1"/>
            <a:r>
              <a:rPr b="1"/>
              <a:t> What does your plan actually include?</a:t>
            </a:r>
            <a:r>
              <a:t> Features depend on plan, admin, region.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6392519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Best assistant = usable output safely in your environment, not the leaderboard winner.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Prompt Is the Steering Wheel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Same model, same question — small wording change, large output change.</a:t>
            </a:r>
          </a:p>
          <a:p>
            <a:endParaRPr/>
          </a:p>
          <a:p>
            <a:endParaRPr/>
          </a:p>
          <a:p>
            <a:endParaRPr/>
          </a:p>
          <a:p>
            <a:r>
              <a:t> The model didn't get smarter. You gave it a</a:t>
            </a:r>
            <a:r>
              <a:rPr b="1"/>
              <a:t> direction to steer toward</a:t>
            </a:r>
            <a:r>
              <a:t> : audience, job, focus, length.</a:t>
            </a:r>
          </a:p>
          <a:p>
            <a:r>
              <a:t> That's the whole course in one slide. Module 2 makes it a repeatable</a:t>
            </a:r>
            <a:r>
              <a:rPr b="1"/>
              <a:t> anatomy</a:t>
            </a:r>
            <a:r>
              <a:t> 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25" y="1862931"/>
            <a:ext cx="8915400" cy="12373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71500" y="5596731"/>
            <a:ext cx="7507224" cy="1316736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You're not "asking a question." You're aiming a capable, slightly unreliable tool. Aim it well → transformative. Aim it vaguely → generic mush.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Myths That Lead to Poor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"It knows everything / it's on the internet."</a:t>
            </a:r>
            <a:r>
              <a:t> Only with a search tool</a:t>
            </a:r>
            <a:r>
              <a:rPr i="1"/>
              <a:t> and</a:t>
            </a:r>
            <a:r>
              <a:t> your ask to use it. Default = training + what you provide.</a:t>
            </a:r>
          </a:p>
          <a:p>
            <a:r>
              <a:rPr b="1"/>
              <a:t> "Sounds confident, so it's right."</a:t>
            </a:r>
            <a:r>
              <a:t> Confidence is a writing style, not a truth signal.</a:t>
            </a:r>
          </a:p>
          <a:p>
            <a:r>
              <a:rPr b="1"/>
              <a:t> "A longer prompt is worse."</a:t>
            </a:r>
            <a:r>
              <a:t> Usually the opposite — relevant context beats a terse ask. Clear isn't short.</a:t>
            </a:r>
          </a:p>
          <a:p>
            <a:r>
              <a:rPr b="1"/>
              <a:t> "It remembers everything I told it."</a:t>
            </a:r>
            <a:r>
              <a:t> Only within the context window / saved memory. Fresh chat = blank slate.</a:t>
            </a:r>
          </a:p>
          <a:p>
            <a:r>
              <a:rPr b="1"/>
              <a:t> "The first answer is the answer."</a:t>
            </a:r>
            <a:r>
              <a:t> It's a draft. The skill is the follow-up.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34950" y="6425063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Half of getting great results is discarding these five beliefs.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AI Adds Value in Your Role — and Where It Doesn't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Great fit:</a:t>
            </a:r>
            <a:r>
              <a:t> drafting, summarizing, reformatting, brainstorming, extracting structure from messy text, first-pass analysis, explaining jargon.</a:t>
            </a:r>
          </a:p>
          <a:p>
            <a:r>
              <a:rPr b="1"/>
              <a:t> Handle with care / verify:</a:t>
            </a:r>
            <a:r>
              <a:t> facts, figures, names, citations — anything legal, medical, financial, compliance.</a:t>
            </a:r>
          </a:p>
          <a:p>
            <a:r>
              <a:rPr b="1"/>
              <a:t> Keep a human:</a:t>
            </a:r>
            <a:r>
              <a:t> final judgment, anything irreversible, anything expensive-if-wrong, confidential or regulated data in a public tool.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" y="4987131"/>
            <a:ext cx="7507224" cy="1316736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Name one task in your week where an assistant clearly helps — and one where it shouldn't be trusted alone. We test the first in the lab.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 the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Take</a:t>
            </a:r>
            <a:r>
              <a:rPr b="1"/>
              <a:t> one</a:t>
            </a:r>
            <a:r>
              <a:t> business request, run it</a:t>
            </a:r>
            <a:r>
              <a:rPr b="1"/>
              <a:t> three ways</a:t>
            </a:r>
            <a:r>
              <a:t> , changing exactly one thing each time:</a:t>
            </a:r>
          </a:p>
          <a:p>
            <a:pPr lvl="1"/>
            <a:r>
              <a:rPr b="1"/>
              <a:t> Phrasing</a:t>
            </a:r>
            <a:r>
              <a:t> — vague vs. framed.</a:t>
            </a:r>
          </a:p>
          <a:p>
            <a:pPr lvl="1"/>
            <a:r>
              <a:rPr b="1"/>
              <a:t> Context</a:t>
            </a:r>
            <a:r>
              <a:t> — no source vs. the attached report.</a:t>
            </a:r>
          </a:p>
          <a:p>
            <a:pPr lvl="1"/>
            <a:r>
              <a:rPr b="1"/>
              <a:t> Model</a:t>
            </a:r>
            <a:r>
              <a:t> — fast vs. reasoning.</a:t>
            </a:r>
          </a:p>
          <a:p>
            <a:r>
              <a:t> Then name</a:t>
            </a:r>
            <a:r>
              <a:rPr b="1"/>
              <a:t> which single change moved the output most</a:t>
            </a:r>
            <a:r>
              <a:t> . (Usually not the one people expect.)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605393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One variable at a time. That discipline turns "AI is hit or miss" into "I can predict what I'll get."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378294</TotalTime>
  <Words>1579</Words>
  <Application>Microsoft Macintosh PowerPoint</Application>
  <PresentationFormat>Custom</PresentationFormat>
  <Paragraphs>113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  <vt:lpstr>How Modern AI Assistants Actually Work</vt:lpstr>
      <vt:lpstr>Why This Module</vt:lpstr>
      <vt:lpstr>What a Language Model Actually Does</vt:lpstr>
      <vt:lpstr>The Overconfident Junior Colleague</vt:lpstr>
      <vt:lpstr>Key Terms Without the Jargon</vt:lpstr>
      <vt:lpstr>Why the Same Question Gives Different Answers</vt:lpstr>
      <vt:lpstr>Reasoning Models vs. Fast Models</vt:lpstr>
      <vt:lpstr>The 2026 Assistant Landscape</vt:lpstr>
      <vt:lpstr>How to Actually Choose</vt:lpstr>
      <vt:lpstr>The Prompt Is the Steering Wheel</vt:lpstr>
      <vt:lpstr>Common Myths That Lead to Poor Results</vt:lpstr>
      <vt:lpstr>Where AI Adds Value in Your Role — and Where It Doesn't</vt:lpstr>
      <vt:lpstr>To the Lab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Brent Borgundvaag</cp:lastModifiedBy>
  <cp:revision>4136</cp:revision>
  <cp:lastPrinted>2010-01-03T02:41:41Z</cp:lastPrinted>
  <dcterms:created xsi:type="dcterms:W3CDTF">2010-07-13T15:22:01Z</dcterms:created>
  <dcterms:modified xsi:type="dcterms:W3CDTF">2026-09-15T02:32:54Z</dcterms:modified>
</cp:coreProperties>
</file>