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Source: https://www.deeplearning.ai/the-batch/falling-llm-token-prices-and-what-they-mean-for-ai-companies/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These four habits separate a useful AI habit from an expensive mistake. We make them second nature starting with Lab 01.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elephantscale.com/pages/advances-in-ai-free-weekly-webinar" TargetMode="External"/><Relationship Id="rId2" Type="http://schemas.openxmlformats.org/officeDocument/2006/relationships/hyperlink" Target="https://www.coursera.org/learn/generative-ai-for-everyon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Highest-Leverage Skill of the Decade</a:t>
            </a:r>
          </a:p>
          <a:p>
            <a:r>
              <a:t>AI Will Not Take My Job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Prompt Engineering for Business Professionals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Pre-requisites and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Comfort using a web browser and everyday office software</a:t>
            </a:r>
          </a:p>
          <a:p>
            <a:r>
              <a:rPr b="1"/>
              <a:t> No coding required</a:t>
            </a:r>
            <a:r>
              <a:t> — and none will sneak in</a:t>
            </a:r>
          </a:p>
          <a:p>
            <a:pPr lvl="1"/>
            <a:r>
              <a:t> Everything happens in the browser</a:t>
            </a:r>
          </a:p>
          <a:p>
            <a:pPr lvl="1"/>
            <a:r>
              <a:t> Bring your account, or use the one we provide in class</a:t>
            </a:r>
          </a:p>
          <a:p>
            <a:r>
              <a:t> Curiosity!</a:t>
            </a:r>
          </a:p>
          <a:p>
            <a:pPr lvl="1"/>
            <a:r>
              <a:t> Ask a lot of questions</a:t>
            </a:r>
          </a:p>
          <a:p>
            <a:r>
              <a:t> This is a "Prompt Engineering for Business Professionals" class</a:t>
            </a:r>
          </a:p>
          <a:p>
            <a:pPr lvl="1"/>
            <a:r>
              <a:t> No previous AI experience is assumed (but may be helpful)</a:t>
            </a:r>
          </a:p>
          <a:p>
            <a:pPr lvl="1"/>
            <a:r>
              <a:t> Class will be based on the pace of the majority of the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Teaching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Emphasis on concepts &amp; fundamentals</a:t>
            </a:r>
          </a:p>
          <a:p>
            <a:r>
              <a:t> Browser tools - no need to learn anything by heart</a:t>
            </a:r>
          </a:p>
          <a:p>
            <a:r>
              <a:t> Highly interactive (questions and discussions are welcome)</a:t>
            </a:r>
          </a:p>
          <a:p>
            <a:r>
              <a:t> Hands-on (learn by doing)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Lots of Labs: Learn By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Where is the ANY key?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any-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066543"/>
            <a:ext cx="6867144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Learning To Fly...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learn-to-f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8165592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lassroom-i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3664"/>
            <a:ext cx="8266175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 Flight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83664"/>
            <a:ext cx="826617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Will Take A Lot Of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83664"/>
            <a:ext cx="8110727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 And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About Instructor</a:t>
            </a:r>
          </a:p>
          <a:p>
            <a:r>
              <a:t> About you</a:t>
            </a:r>
          </a:p>
          <a:p>
            <a:pPr lvl="1"/>
            <a:r>
              <a:t> Your Name</a:t>
            </a:r>
          </a:p>
          <a:p>
            <a:pPr lvl="1"/>
            <a:r>
              <a:t> Your role (sales, marketing, analyst, ops, manager, ...)</a:t>
            </a:r>
          </a:p>
          <a:p>
            <a:pPr lvl="1"/>
            <a:r>
              <a:t> Tasks you'd love to write a better prompt for</a:t>
            </a:r>
          </a:p>
          <a:p>
            <a:pPr lvl="1"/>
            <a:r>
              <a:t> Familiarity with AI so far (scale of 1 - 4 ;  1 - new,   4 - I use it daily)</a:t>
            </a:r>
          </a:p>
          <a:p>
            <a:pPr lvl="1"/>
            <a:r>
              <a:t> Something non-technical about you! (favorite ice cream flavor / hobby...)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hikin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559552"/>
            <a:ext cx="2057400" cy="1819656"/>
          </a:xfrm>
          <a:prstGeom prst="rect">
            <a:avLst/>
          </a:prstGeom>
        </p:spPr>
      </p:pic>
      <p:pic>
        <p:nvPicPr>
          <p:cNvPr id="6" name="Picture 5" descr="ice-cream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5577840"/>
            <a:ext cx="3236976" cy="1755648"/>
          </a:xfrm>
          <a:prstGeom prst="rect">
            <a:avLst/>
          </a:prstGeom>
        </p:spPr>
      </p:pic>
      <p:pic>
        <p:nvPicPr>
          <p:cNvPr id="7" name="Picture 6" descr="biking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5559552"/>
            <a:ext cx="2057400" cy="1819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The Highest-Leverage Skill of the Decade
</a:t>
            </a:r>
            <a:r>
              <a:t>AI Will Not Take My Job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pPr>
              <a:defRPr sz="2000"/>
            </a:pPr>
            <a:r>
              <a:rPr sz="4200" b="1" i="0">
                <a:latin typeface="Times New Roman"/>
              </a:rPr>
              <a:t>The Highest-Leverage Skill of the Decade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Andrew Ng 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There's a lingering misconception that getting value from AI requires engineers and budgets.</a:t>
            </a:r>
          </a:p>
          <a:p>
            <a:r>
              <a:t> It is indeed expensive to</a:t>
            </a:r>
            <a:r>
              <a:rPr i="1"/>
              <a:t> train</a:t>
            </a:r>
            <a:r>
              <a:t> cutting-edge foundation models</a:t>
            </a:r>
          </a:p>
          <a:p>
            <a:r>
              <a:t> But it's now very inexpensive — and often free — to</a:t>
            </a:r>
            <a:r>
              <a:rPr i="1"/>
              <a:t> use</a:t>
            </a:r>
            <a:r>
              <a:t> AI to get real work done, right from a browser. The skill that separates results is</a:t>
            </a:r>
            <a:r>
              <a:rPr b="1"/>
              <a:t> how you ask</a:t>
            </a:r>
            <a:r>
              <a:t> 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token-p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01" y="3615531"/>
            <a:ext cx="4450384" cy="4207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 Altman on AI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i="1"/>
              <a:t> "While big companies often operate on extended planning cycles—sometimes spanning years or even decades—startups can swiftly adapt to technological changes."</a:t>
            </a:r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  <a:p>
            <a:endParaRPr i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anhleephoto-296318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900" y="5286172"/>
            <a:ext cx="2915412" cy="1939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this class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</a:t>
            </a:r>
          </a:p>
          <a:p>
            <a:pPr lvl="1"/>
            <a:r>
              <a:t> We taught AI tools you had to code against</a:t>
            </a:r>
          </a:p>
          <a:p>
            <a:pPr lvl="1"/>
            <a:r>
              <a:t> Students enjoyed the show but did not become power users</a:t>
            </a:r>
          </a:p>
          <a:p>
            <a:r>
              <a:t> Now</a:t>
            </a:r>
          </a:p>
          <a:p>
            <a:pPr lvl="1"/>
            <a:r>
              <a:t> We teach</a:t>
            </a:r>
            <a:r>
              <a:rPr b="1"/>
              <a:t> prompt engineering</a:t>
            </a:r>
            <a:r>
              <a:t> — the craft of instructing AI clearly</a:t>
            </a:r>
          </a:p>
          <a:p>
            <a:pPr lvl="1"/>
            <a:r>
              <a:t> Same assistant, dramatically better results — no code required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amina-filkins-5560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76" y="4090982"/>
            <a:ext cx="2628037" cy="3942056"/>
          </a:xfrm>
          <a:prstGeom prst="rect">
            <a:avLst/>
          </a:prstGeom>
        </p:spPr>
      </p:pic>
      <p:pic>
        <p:nvPicPr>
          <p:cNvPr id="6" name="Picture 5" descr="pexels-amina-filkins-5560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159249"/>
            <a:ext cx="2628038" cy="39420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Highest-Leverage Skill of the Decade
</a:t>
            </a:r>
            <a:r>
              <a:rPr b="1"/>
              <a:t>AI Will Not Take My Job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AI Will Not Take My Job</a:t>
            </a:r>
          </a:p>
        </p:txBody>
      </p:sp>
      <p:pic>
        <p:nvPicPr>
          <p:cNvPr id="4" name="Picture 3" descr="human-vs-a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0"/>
            <a:ext cx="2235200" cy="279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will happen instead?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will become your friend</a:t>
            </a:r>
          </a:p>
          <a:p>
            <a:r>
              <a:t> You will become AI's friend — and the person who can</a:t>
            </a:r>
            <a:r>
              <a:rPr b="1"/>
              <a:t> direct</a:t>
            </a:r>
            <a:r>
              <a:t> it well is the one who gets ahead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robert-rsn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48731"/>
            <a:ext cx="3296412" cy="48932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Andrew 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Andrew Ng is a founder of Coursera</a:t>
            </a:r>
          </a:p>
          <a:p>
            <a:r>
              <a:t> Honorary doctor at Exeter</a:t>
            </a:r>
          </a:p>
          <a:p>
            <a:r>
              <a:t> Much material is based on his letter about the event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andrew-ng-ex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63" y="2853531"/>
            <a:ext cx="7507224" cy="42185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Andrew Ng at University of Exeter Faculty of Environment, Science and Economy.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name of this faculty stood out to me as a particularly forward-looking way to organize an academic division.</a:t>
            </a:r>
          </a:p>
          <a:p>
            <a:r>
              <a:t> Having Computer Science sit alongside Environmental Science and the Business School creates natural opportunities for</a:t>
            </a:r>
          </a:p>
          <a:p>
            <a:r>
              <a:t> collaboration across these fields.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organization must become an AI organization</a:t>
            </a:r>
          </a:p>
          <a:p>
            <a:r>
              <a:t> Not just building AI, but using it to advance every kind of work.</a:t>
            </a:r>
          </a:p>
          <a:p>
            <a:r>
              <a:t> This doesn't mean abandoning your expertise.</a:t>
            </a:r>
          </a:p>
          <a:p>
            <a:r>
              <a:t> It means keeping your judgment while letting AI enhance everything you do — and a good prompt is how your judgment reaches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Yes, you will have to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 The AI will be your helper on the way</a:t>
            </a:r>
          </a:p>
          <a:p>
            <a:r>
              <a:rPr dirty="0"/>
              <a:t> DIY</a:t>
            </a:r>
          </a:p>
          <a:p>
            <a:pPr lvl="1"/>
            <a:r>
              <a:rPr dirty="0">
                <a:hlinkClick r:id="rId2"/>
              </a:rPr>
              <a:t> AI for Everyone</a:t>
            </a:r>
          </a:p>
          <a:p>
            <a:pPr lvl="1"/>
            <a:r>
              <a:rPr dirty="0">
                <a:hlinkClick r:id="rId3"/>
              </a:rPr>
              <a:t> Elephant Scale Webinar</a:t>
            </a:r>
          </a:p>
          <a:p>
            <a:r>
              <a:rPr dirty="0"/>
              <a:t> For your company</a:t>
            </a:r>
          </a:p>
          <a:p>
            <a:pPr lvl="1"/>
            <a:r>
              <a:rPr dirty="0"/>
              <a:t> https://</a:t>
            </a:r>
            <a:r>
              <a:rPr dirty="0" err="1"/>
              <a:t>elephantscale.com</a:t>
            </a:r>
            <a:r>
              <a:rPr dirty="0"/>
              <a:t>/</a:t>
            </a:r>
          </a:p>
          <a:p>
            <a:pPr lvl="1"/>
            <a:r>
              <a:rPr dirty="0"/>
              <a:t> </a:t>
            </a:r>
            <a:r>
              <a:rPr dirty="0" err="1"/>
              <a:t>info@elephantscale.com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looking-for-job-ai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725" y="4126202"/>
            <a:ext cx="3697224" cy="36972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Two-Day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In every module you build a real artifact you can take back to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You go from...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— How Modern AI Assistants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mental model of how the model behaves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— The Anatomy of a Strong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building prompts from six blocks, not guesswork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— Prompting for Real Business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on-brand marketing, sales, support &amp; ops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— Advanced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reasoning, prompt chains, grounding in your 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— Refining, Testing &amp; Evaluating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scoring prompt quality instead of guessing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— Building &amp; Governing Prompt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reusable, versioned team prompt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 — Capstone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working AI solution for your own work + a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</a:t>
            </a:r>
            <a:r>
              <a:rPr b="1"/>
              <a:t> classroom-approved accounts and data</a:t>
            </a:r>
            <a:r>
              <a:t> only.</a:t>
            </a:r>
          </a:p>
          <a:p>
            <a:r>
              <a:rPr b="1"/>
              <a:t> Do not upload confidential information</a:t>
            </a:r>
            <a:r>
              <a:t> unless the environment is explicitly approved for it.</a:t>
            </a:r>
          </a:p>
          <a:p>
            <a:r>
              <a:rPr b="1"/>
              <a:t> Verify important facts</a:t>
            </a:r>
            <a:r>
              <a:t> before you act on them — the model can be confidently wrong.</a:t>
            </a:r>
          </a:p>
          <a:p>
            <a:r>
              <a:t> Keep a</a:t>
            </a:r>
            <a:r>
              <a:rPr b="1"/>
              <a:t> human approval step</a:t>
            </a:r>
            <a:r>
              <a:t> in any workflow that sends, publishes, deletes, or buys.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1101</Words>
  <Application>Microsoft Macintosh PowerPoint</Application>
  <PresentationFormat>Custom</PresentationFormat>
  <Paragraphs>219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Prompt Engineering for Business Professionals</vt:lpstr>
      <vt:lpstr>Pre-requisites and Expectations</vt:lpstr>
      <vt:lpstr>Our Teaching Philosophy</vt:lpstr>
      <vt:lpstr>Lots of Labs: Learn By Doing</vt:lpstr>
      <vt:lpstr>Analogy: Learning To Fly...</vt:lpstr>
      <vt:lpstr>Introductions</vt:lpstr>
      <vt:lpstr>+ Flight Time</vt:lpstr>
      <vt:lpstr>This Will Take A Lot Of Practice</vt:lpstr>
      <vt:lpstr>About You And Me</vt:lpstr>
      <vt:lpstr>The Highest-Leverage Skill of the Decade</vt:lpstr>
      <vt:lpstr>Andrew Ng on AI</vt:lpstr>
      <vt:lpstr>Sam Altman on AI apps</vt:lpstr>
      <vt:lpstr>Why is this class different</vt:lpstr>
      <vt:lpstr>AI Will Not Take My Job</vt:lpstr>
      <vt:lpstr>What will happen instead?</vt:lpstr>
      <vt:lpstr>Andrew Ng</vt:lpstr>
      <vt:lpstr>Andrew Ng at University of Exeter Faculty of Environment, Science and Economy.</vt:lpstr>
      <vt:lpstr>Future</vt:lpstr>
      <vt:lpstr>Yes, you will have to learn</vt:lpstr>
      <vt:lpstr>The Two-Day Map</vt:lpstr>
      <vt:lpstr>Ground Rules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4137</cp:revision>
  <cp:lastPrinted>2010-01-03T02:41:41Z</cp:lastPrinted>
  <dcterms:created xsi:type="dcterms:W3CDTF">2010-07-13T15:22:01Z</dcterms:created>
  <dcterms:modified xsi:type="dcterms:W3CDTF">2026-09-14T19:04:54Z</dcterms:modified>
</cp:coreProperties>
</file>