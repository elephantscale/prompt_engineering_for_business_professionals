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The Anatomy of a Strong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Module 1 proved wording moves the output. Now: a</a:t>
            </a:r>
            <a:r>
              <a:rPr b="1"/>
              <a:t> repeatable shape</a:t>
            </a:r>
            <a:r>
              <a:t> , not guesswork.</a:t>
            </a:r>
          </a:p>
          <a:p>
            <a:r>
              <a:t> Most people prompt by</a:t>
            </a:r>
            <a:r>
              <a:rPr b="1"/>
              <a:t> trial and error</a:t>
            </a:r>
            <a:r>
              <a:t> — type, squint, retype. Fails when it matters or you need the same quality twice.</a:t>
            </a:r>
          </a:p>
          <a:p>
            <a:r>
              <a:t> By the end you can:</a:t>
            </a:r>
          </a:p>
          <a:p>
            <a:pPr lvl="1"/>
            <a:r>
              <a:t> Build prompts from six named parts, not a blank box.</a:t>
            </a:r>
          </a:p>
          <a:p>
            <a:pPr lvl="1"/>
            <a:r>
              <a:t> Turn a vague ask into an instruction the model can't misread.</a:t>
            </a:r>
          </a:p>
          <a:p>
            <a:pPr lvl="1"/>
            <a:r>
              <a:t> Hand over</a:t>
            </a:r>
            <a:r>
              <a:rPr b="1"/>
              <a:t> reference material</a:t>
            </a:r>
            <a:r>
              <a:t> instead of trusting its memory.</a:t>
            </a:r>
          </a:p>
          <a:p>
            <a:pPr lvl="1"/>
            <a:r>
              <a:t> Control the</a:t>
            </a:r>
            <a:r>
              <a:rPr b="1"/>
              <a:t> output format</a:t>
            </a:r>
            <a:r>
              <a:t> so the answer is paste-ready.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75513" y="53681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strong prompt isn't longer for its own sake. Each clause removes a way the answer comes back wrong.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Six Building Blocks — R-T-C-C-F-E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Up to six parts. You won't need all six every time — but naming them stops you skipping the one that saves the answer.</a:t>
            </a:r>
          </a:p>
          <a:p>
            <a:pPr lvl="1"/>
            <a:r>
              <a:rPr b="1"/>
              <a:t> Role</a:t>
            </a:r>
            <a:r>
              <a:t> — who the model should be:</a:t>
            </a:r>
            <a:r>
              <a:rPr i="1"/>
              <a:t> "Act as a support lead / a CFO's analyst."</a:t>
            </a:r>
          </a:p>
          <a:p>
            <a:pPr lvl="1"/>
            <a:r>
              <a:rPr b="1"/>
              <a:t> Task</a:t>
            </a:r>
            <a:r>
              <a:t> — one clear instruction, tied to an outcome.</a:t>
            </a:r>
          </a:p>
          <a:p>
            <a:pPr lvl="1"/>
            <a:r>
              <a:rPr b="1"/>
              <a:t> Context</a:t>
            </a:r>
            <a:r>
              <a:t> — the situation, the reader, the</a:t>
            </a:r>
            <a:r>
              <a:rPr b="1"/>
              <a:t> source material</a:t>
            </a:r>
            <a:r>
              <a:t> .</a:t>
            </a:r>
          </a:p>
          <a:p>
            <a:pPr lvl="1"/>
            <a:r>
              <a:rPr b="1"/>
              <a:t> Constraints</a:t>
            </a:r>
            <a:r>
              <a:t> — length, tone, must-include, must-avoid, source rule.</a:t>
            </a:r>
          </a:p>
          <a:p>
            <a:pPr lvl="1"/>
            <a:r>
              <a:rPr b="1"/>
              <a:t> Format</a:t>
            </a:r>
            <a:r>
              <a:t> — exact output shape (table, email, five bullets, checklist).</a:t>
            </a:r>
          </a:p>
          <a:p>
            <a:pPr lvl="1"/>
            <a:r>
              <a:rPr b="1"/>
              <a:t> Examples</a:t>
            </a:r>
            <a:r>
              <a:t> — one or two samples of "good" when style is hard to describe.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642506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Full template: course-materials/prompt-template.md. Cheat sheet: prompt-anatomy-cheatsheet.md. Pin both.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Task Is Always a Verb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Every request is one of a small set of verbs. Name the verb, the model stops guessing:</a:t>
            </a:r>
          </a:p>
          <a:p>
            <a:pPr lvl="1"/>
            <a:r>
              <a:rPr b="1"/>
              <a:t> Draft · Summarize · Extract · Transform · Classify · Compare · Analyze · Answer-from-a-document.</a:t>
            </a:r>
          </a:p>
          <a:p>
            <a:r>
              <a:t> "Look at this" is not a verb. "Summarize this for my VP in five bullets" is.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25" y="3920331"/>
            <a:ext cx="8915400" cy="7283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390181"/>
            <a:ext cx="8077200" cy="1111550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Reading a file is what you give the model. The task is a verb you ask it to 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Being Specific: Kill the Ambiguity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vague prompt isn't "open-ended" — it's</a:t>
            </a:r>
            <a:r>
              <a:rPr b="1"/>
              <a:t> under-specified</a:t>
            </a:r>
            <a:r>
              <a:t> . The model fills gaps with guesses, often wrong.</a:t>
            </a:r>
          </a:p>
          <a:p>
            <a:r>
              <a:t> Three questions turn vague into specific:</a:t>
            </a:r>
          </a:p>
          <a:p>
            <a:pPr lvl="1"/>
            <a:r>
              <a:rPr b="1"/>
              <a:t> Who is it for?</a:t>
            </a:r>
            <a:r>
              <a:t> (a nurse, a CFO, a new customer)</a:t>
            </a:r>
          </a:p>
          <a:p>
            <a:pPr lvl="1"/>
            <a:r>
              <a:rPr b="1"/>
              <a:t> What's the job?</a:t>
            </a:r>
            <a:r>
              <a:t> (decide, persuade, inform, triage)</a:t>
            </a:r>
          </a:p>
          <a:p>
            <a:pPr lvl="1"/>
            <a:r>
              <a:rPr b="1"/>
              <a:t> What does done look like?</a:t>
            </a:r>
            <a:r>
              <a:t> (length, format, tone)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4069137"/>
            <a:ext cx="8915400" cy="6801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5755309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"Professional" means three different things to a lawyer, a nurse, a founder. Say which.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Give It the Source — Don't Trust Its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Training memory is broad, stale, and</a:t>
            </a:r>
            <a:r>
              <a:rPr b="1" dirty="0"/>
              <a:t> confidently fillable</a:t>
            </a:r>
            <a:r>
              <a:rPr dirty="0"/>
              <a:t> — it'll invent a policy rather than admit it doesn't know yours.</a:t>
            </a:r>
          </a:p>
          <a:p>
            <a:r>
              <a:rPr dirty="0"/>
              <a:t> Fix:</a:t>
            </a:r>
            <a:r>
              <a:rPr b="1" dirty="0"/>
              <a:t> paste or attach the real material</a:t>
            </a:r>
            <a:r>
              <a:rPr dirty="0"/>
              <a:t> , add a source boundary.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The single biggest defense against hallucination — pushed further in Modules 4 and 5.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3234531"/>
            <a:ext cx="8915400" cy="5025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" y="5598354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If the answer has to be right, don't ask the model to remember it. Give it to the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Zero-Shot vs. Few-Shot — Teaching by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Zero-shot:</a:t>
            </a:r>
            <a:r>
              <a:t> just describe the task. Fine for common, well-understood asks.</a:t>
            </a:r>
          </a:p>
          <a:p>
            <a:r>
              <a:rPr b="1"/>
              <a:t> Few-shot:</a:t>
            </a:r>
            <a:r>
              <a:t> include 1–3 input → output examples. Use when</a:t>
            </a:r>
            <a:r>
              <a:rPr b="1"/>
              <a:t> format or style</a:t>
            </a:r>
            <a:r>
              <a:t> is specific, or the model keeps missing the shape.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91731"/>
            <a:ext cx="9411265" cy="1777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4950" y="62063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One good example teaches more than a paragraph of adjectives. Show, don't only tell.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Controlling Tone, Length, and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These are</a:t>
            </a:r>
            <a:r>
              <a:rPr b="1"/>
              <a:t> constraints</a:t>
            </a:r>
            <a:r>
              <a:t> — the most-skipped block, and why "correct" answers still come back unusable.</a:t>
            </a:r>
          </a:p>
          <a:p>
            <a:pPr lvl="1"/>
            <a:r>
              <a:rPr b="1"/>
              <a:t> Length:</a:t>
            </a:r>
            <a:r>
              <a:t> "under 120 words", "exactly 5 bullets", "one paragraph".</a:t>
            </a:r>
          </a:p>
          <a:p>
            <a:pPr lvl="1"/>
            <a:r>
              <a:rPr b="1"/>
              <a:t> Tone:</a:t>
            </a:r>
            <a:r>
              <a:t> "warm and direct" — or better, "match the attached brand voice" (Module 3).</a:t>
            </a:r>
          </a:p>
          <a:p>
            <a:pPr lvl="1"/>
            <a:r>
              <a:rPr b="1"/>
              <a:t> Audience:</a:t>
            </a:r>
            <a:r>
              <a:t> name them. A VP reads differently than a new hire.</a:t>
            </a:r>
          </a:p>
          <a:p>
            <a:pPr lvl="1"/>
            <a:r>
              <a:rPr b="1"/>
              <a:t> Must-avoid:</a:t>
            </a:r>
            <a:r>
              <a:t> hype words, jargon, exclamation points, promises you can't keep.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486460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Right content in the wrong shape is rework. Constraints stop you paying that tax.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Controlling Format — Make It Paste-Ready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Ask for the exact shape you'll use, skip the reformatting step:</a:t>
            </a:r>
          </a:p>
          <a:p>
            <a:pPr lvl="1"/>
            <a:r>
              <a:t> A</a:t>
            </a:r>
            <a:r>
              <a:rPr b="1"/>
              <a:t> table</a:t>
            </a:r>
            <a:r>
              <a:t> with named columns, a</a:t>
            </a:r>
            <a:r>
              <a:rPr b="1"/>
              <a:t> checklist</a:t>
            </a:r>
            <a:r>
              <a:t> , an</a:t>
            </a:r>
            <a:r>
              <a:rPr b="1"/>
              <a:t> email with a subject line</a:t>
            </a:r>
            <a:r>
              <a:t> , a</a:t>
            </a:r>
            <a:r>
              <a:rPr b="1"/>
              <a:t> slide outline</a:t>
            </a:r>
            <a:r>
              <a:t> , five</a:t>
            </a:r>
            <a:r>
              <a:rPr b="1"/>
              <a:t> bullets</a:t>
            </a:r>
            <a:r>
              <a:t> .</a:t>
            </a:r>
          </a:p>
          <a:p>
            <a:r>
              <a:t> Give a skeleton when the shape matters: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3067"/>
            <a:ext cx="8915400" cy="5572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" y="640906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The format clause is the difference between an answer you read and one you 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Weak and strong, same model, same report:</a:t>
            </a:r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Role, task, context, constraints, format, source rule — six clauses, each removing a failure.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2015331"/>
            <a:ext cx="8915400" cy="11705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5986151"/>
            <a:ext cx="7507224" cy="1316736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Lab 02: rewrite eight weak prompts into strong ones, measure the difference, build your own reusable template.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Buys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Consistency</a:t>
            </a:r>
            <a:r>
              <a:t> — same prompt, same quality tomorrow and for a colleague.</a:t>
            </a:r>
          </a:p>
          <a:p>
            <a:r>
              <a:rPr b="1"/>
              <a:t> Speed</a:t>
            </a:r>
            <a:r>
              <a:t> — stop re-rolling the dice and editing by hand.</a:t>
            </a:r>
          </a:p>
          <a:p>
            <a:r>
              <a:rPr b="1"/>
              <a:t> A foundation</a:t>
            </a:r>
            <a:r>
              <a:t> — brand voice (Mod 3), chains (Mod 4), scoring (Mod 5) all build on this anatomy.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34950" y="52157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Stop starting from a blank box. Start from the six blocks — and delete the ones you don't need.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378295</TotalTime>
  <Words>1043</Words>
  <Application>Microsoft Macintosh PowerPoint</Application>
  <PresentationFormat>Custom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  <vt:lpstr>The Anatomy of a Strong Prompt</vt:lpstr>
      <vt:lpstr>Why This Module</vt:lpstr>
      <vt:lpstr>The Six Building Blocks — R-T-C-C-F-E</vt:lpstr>
      <vt:lpstr>The Task Is Always a Verb</vt:lpstr>
      <vt:lpstr>Being Specific: Kill the Ambiguity</vt:lpstr>
      <vt:lpstr>Give It the Source — Don't Trust Its Memory</vt:lpstr>
      <vt:lpstr>Zero-Shot vs. Few-Shot — Teaching by Example</vt:lpstr>
      <vt:lpstr>Controlling Tone, Length, and Audience</vt:lpstr>
      <vt:lpstr>Controlling Format — Make It Paste-Ready</vt:lpstr>
      <vt:lpstr>Putting It Together</vt:lpstr>
      <vt:lpstr>What This Buys You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2026-09-14T20:31:35Z</dcterms:modified>
</cp:coreProperties>
</file>