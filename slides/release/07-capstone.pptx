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372600" cy="829786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2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y Conlee" initials="MC" lastIdx="1" clrIdx="0"/>
  <p:cmAuthor id="2" name="Mark Kerzner" initials="MK" lastIdx="6" clrIdx="1"/>
  <p:cmAuthor id="3" name="Mary Beth Conlee" initials="MBC" lastIdx="7" clrIdx="2"/>
  <p:cmAuthor id="4" name="Michelle" initials="M" lastIdx="5" clrIdx="3"/>
  <p:cmAuthor id="5" name="Tricia Murphy" initials="TM" lastIdx="4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1A"/>
    <a:srgbClr val="D6B8EB"/>
    <a:srgbClr val="A77EC7"/>
    <a:srgbClr val="B59BC7"/>
    <a:srgbClr val="C7AAD9"/>
    <a:srgbClr val="C89EDF"/>
    <a:srgbClr val="BD83DF"/>
    <a:srgbClr val="CB89DF"/>
    <a:srgbClr val="CA87D1"/>
    <a:srgbClr val="CF8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959" autoAdjust="0"/>
    <p:restoredTop sz="86027" autoAdjust="0"/>
  </p:normalViewPr>
  <p:slideViewPr>
    <p:cSldViewPr>
      <p:cViewPr varScale="1">
        <p:scale>
          <a:sx n="90" d="100"/>
          <a:sy n="90" d="100"/>
        </p:scale>
        <p:origin x="3312" y="192"/>
      </p:cViewPr>
      <p:guideLst>
        <p:guide orient="horz" pos="2614"/>
        <p:guide pos="29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5" d="100"/>
        <a:sy n="85" d="100"/>
      </p:scale>
      <p:origin x="0" y="0"/>
    </p:cViewPr>
  </p:sorterViewPr>
  <p:notesViewPr>
    <p:cSldViewPr>
      <p:cViewPr>
        <p:scale>
          <a:sx n="80" d="100"/>
          <a:sy n="80" d="100"/>
        </p:scale>
        <p:origin x="3296" y="-56"/>
      </p:cViewPr>
      <p:guideLst>
        <p:guide orient="horz" pos="3024"/>
        <p:guide pos="23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3363"/>
            <a:ext cx="31702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3363"/>
            <a:ext cx="31702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7E62689-8C7D-4291-A094-4E689FEC4C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2915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75" y="473075"/>
            <a:ext cx="5365750" cy="47513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8280" name="Rectangle 8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365250" y="9388475"/>
            <a:ext cx="4578350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1" compatLnSpc="1">
            <a:prstTxWarp prst="textNoShape">
              <a:avLst/>
            </a:prstTxWarp>
          </a:bodyPr>
          <a:lstStyle>
            <a:lvl1pPr algn="ctr" defTabSz="965200" eaLnBrk="0" hangingPunct="0">
              <a:defRPr sz="900"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438281" name="Rectangle 9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400800" y="9388475"/>
            <a:ext cx="554038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b="1">
                <a:latin typeface="Arial" charset="0"/>
              </a:defRPr>
            </a:lvl1pPr>
          </a:lstStyle>
          <a:p>
            <a:pPr>
              <a:defRPr/>
            </a:pPr>
            <a:fld id="{EFAADD5D-AF76-45EE-AA5F-6DAC73BF16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38306" name="Text Box 34"/>
          <p:cNvSpPr txBox="1">
            <a:spLocks noChangeArrowheads="1"/>
          </p:cNvSpPr>
          <p:nvPr/>
        </p:nvSpPr>
        <p:spPr bwMode="auto">
          <a:xfrm>
            <a:off x="271463" y="5176838"/>
            <a:ext cx="617537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6386" tIns="48194" rIns="96386" bIns="48194"/>
          <a:lstStyle/>
          <a:p>
            <a:pPr defTabSz="960438">
              <a:defRPr/>
            </a:pPr>
            <a:r>
              <a:rPr lang="en-US" sz="1200" b="1" u="sng" dirty="0">
                <a:latin typeface="Times New Roman" pitchFamily="18" charset="0"/>
                <a:cs typeface="Times New Roman" pitchFamily="18" charset="0"/>
              </a:rPr>
              <a:t>Notes:</a:t>
            </a:r>
          </a:p>
        </p:txBody>
      </p:sp>
      <p:sp>
        <p:nvSpPr>
          <p:cNvPr id="438309" name="Rectangle 37"/>
          <p:cNvSpPr>
            <a:spLocks noGrp="1" noChangeArrowheads="1"/>
          </p:cNvSpPr>
          <p:nvPr>
            <p:ph type="body" sz="quarter" idx="3"/>
          </p:nvPr>
        </p:nvSpPr>
        <p:spPr bwMode="gray">
          <a:xfrm>
            <a:off x="322263" y="5462588"/>
            <a:ext cx="6607175" cy="375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37" tIns="45768" rIns="91537" bIns="45768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438317" name="Line 45"/>
          <p:cNvSpPr>
            <a:spLocks noChangeShapeType="1"/>
          </p:cNvSpPr>
          <p:nvPr/>
        </p:nvSpPr>
        <p:spPr bwMode="auto">
          <a:xfrm>
            <a:off x="322263" y="9324975"/>
            <a:ext cx="665321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30000"/>
              </a:spcBef>
              <a:defRPr/>
            </a:pPr>
            <a:endParaRPr lang="en-US" dirty="0">
              <a:latin typeface="Garamond" pitchFamily="-11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74403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indent="0" algn="l" rtl="0" eaLnBrk="0" fontAlgn="base" hangingPunct="0">
      <a:spcBef>
        <a:spcPct val="30000"/>
      </a:spcBef>
      <a:spcAft>
        <a:spcPct val="0"/>
      </a:spcAft>
      <a:buSzPct val="65000"/>
      <a:buFont typeface="Wingdings" pitchFamily="2" charset="2"/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 pitchFamily="-110" charset="-128"/>
      </a:defRPr>
    </a:lvl1pPr>
    <a:lvl2pPr marL="282575" indent="0" algn="l" rtl="0" eaLnBrk="0" fontAlgn="base" hangingPunct="0">
      <a:spcBef>
        <a:spcPct val="30000"/>
      </a:spcBef>
      <a:spcAft>
        <a:spcPct val="0"/>
      </a:spcAft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2pPr>
    <a:lvl3pPr marL="744538" indent="-173038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 preferRelativeResize="0">
            <a:picLocks noChangeArrowheads="1"/>
          </p:cNvPicPr>
          <p:nvPr/>
        </p:nvPicPr>
        <p:blipFill rotWithShape="1">
          <a:blip r:embed="rId2"/>
          <a:srcRect t="19473"/>
          <a:stretch/>
        </p:blipFill>
        <p:spPr bwMode="auto">
          <a:xfrm>
            <a:off x="1" y="-1801"/>
            <a:ext cx="2498725" cy="830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4898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98726" y="4984481"/>
            <a:ext cx="6335713" cy="400685"/>
          </a:xfrm>
        </p:spPr>
        <p:txBody>
          <a:bodyPr>
            <a:spAutoFit/>
          </a:bodyPr>
          <a:lstStyle>
            <a:lvl1pPr marL="0" indent="0" algn="r">
              <a:buFont typeface="Monotype Sorts" pitchFamily="-110" charset="2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04900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04850" y="3226947"/>
            <a:ext cx="8121650" cy="1469414"/>
          </a:xfrm>
        </p:spPr>
        <p:txBody>
          <a:bodyPr lIns="91440" anchor="ctr"/>
          <a:lstStyle>
            <a:lvl1pPr algn="ctr" defTabSz="1825625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EF9825-4C23-4085-A4E3-B5565466BD9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2500" y="994975"/>
            <a:ext cx="4375150" cy="33210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62500" y="4500439"/>
            <a:ext cx="4375150" cy="332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E4B02-67B9-4228-B08B-2561CEE6B9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CC632-9864-46F1-8EAB-FCD3BB9CEC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950" y="994976"/>
            <a:ext cx="8902700" cy="682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03876" name="Rectangle 4"/>
          <p:cNvSpPr>
            <a:spLocks noGrp="1" noChangeArrowheads="1"/>
          </p:cNvSpPr>
          <p:nvPr>
            <p:ph type="sldNum" sz="quarter" idx="4"/>
          </p:nvPr>
        </p:nvSpPr>
        <p:spPr bwMode="hidden">
          <a:xfrm>
            <a:off x="8777288" y="7961724"/>
            <a:ext cx="546100" cy="272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fld id="{77EF9825-4C23-4085-A4E3-B5565466BD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03877" name="Rectangle 5"/>
          <p:cNvSpPr>
            <a:spLocks noGrp="1" noChangeArrowheads="1"/>
          </p:cNvSpPr>
          <p:nvPr>
            <p:ph type="ftr" sz="quarter" idx="3"/>
          </p:nvPr>
        </p:nvSpPr>
        <p:spPr bwMode="hidden">
          <a:xfrm>
            <a:off x="234950" y="8032785"/>
            <a:ext cx="544195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0" hangingPunct="0">
              <a:spcBef>
                <a:spcPct val="0"/>
              </a:spcBef>
              <a:defRPr sz="9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pic>
        <p:nvPicPr>
          <p:cNvPr id="1030" name="Picture 6"/>
          <p:cNvPicPr preferRelativeResize="0"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ltGray">
          <a:xfrm>
            <a:off x="0" y="1"/>
            <a:ext cx="704850" cy="835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7"/>
          <p:cNvSpPr>
            <a:spLocks noGrp="1" noChangeArrowheads="1"/>
          </p:cNvSpPr>
          <p:nvPr>
            <p:ph type="title"/>
          </p:nvPr>
        </p:nvSpPr>
        <p:spPr bwMode="invGray">
          <a:xfrm>
            <a:off x="704850" y="1"/>
            <a:ext cx="8667750" cy="83554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4" r:id="rId3"/>
    <p:sldLayoutId id="2147483653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9pPr>
    </p:titleStyle>
    <p:bodyStyle>
      <a:lvl1pPr marL="290513" indent="-29051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"/>
        <a:defRPr sz="2400">
          <a:solidFill>
            <a:srgbClr val="000000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633413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Char char="–"/>
        <a:defRPr sz="22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2pPr>
      <a:lvl3pPr marL="969963" indent="-2222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3pPr>
      <a:lvl4pPr marL="1258888" indent="-228600" algn="l" rtl="0" eaLnBrk="0" fontAlgn="base" hangingPunct="0">
        <a:spcBef>
          <a:spcPct val="0"/>
        </a:spcBef>
        <a:spcAft>
          <a:spcPct val="0"/>
        </a:spcAft>
        <a:buClr>
          <a:srgbClr val="5F5F5F"/>
        </a:buClr>
        <a:buSzPct val="65000"/>
        <a:buFont typeface="Arial Bold" pitchFamily="34" charset="0"/>
        <a:buChar char="‒"/>
        <a:defRPr lang="en-US" dirty="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4pPr>
      <a:lvl5pPr marL="20558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  <a:cs typeface="ＭＳ Ｐゴシック"/>
        </a:defRPr>
      </a:lvl5pPr>
      <a:lvl6pPr marL="25130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6pPr>
      <a:lvl7pPr marL="29702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7pPr>
      <a:lvl8pPr marL="34274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8pPr>
      <a:lvl9pPr marL="38846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 wrap="square">
            <a:noAutofit/>
          </a:bodyPr>
          <a:lstStyle/>
          <a:p>
            <a:r>
              <a:rPr sz="4200" b="1" i="0">
                <a:latin typeface="Times New Roman"/>
              </a:rP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Where the course stops being exercises and becomes</a:t>
            </a:r>
            <a:r>
              <a:rPr b="1"/>
              <a:t> your work</a:t>
            </a:r>
            <a:r>
              <a:t> .</a:t>
            </a:r>
          </a:p>
          <a:p>
            <a:r>
              <a:t> Take a real, recurring challenge from your own job. Build a solution you could use Monday.</a:t>
            </a:r>
          </a:p>
          <a:p>
            <a:r>
              <a:t> Everything from two days comes together:</a:t>
            </a:r>
          </a:p>
          <a:p>
            <a:pPr lvl="1"/>
            <a:r>
              <a:t> The prompt</a:t>
            </a:r>
            <a:r>
              <a:rPr b="1"/>
              <a:t> anatomy</a:t>
            </a:r>
            <a:r>
              <a:t> (Module 2)</a:t>
            </a:r>
          </a:p>
          <a:p>
            <a:pPr lvl="1"/>
            <a:r>
              <a:t> A business scenario in your</a:t>
            </a:r>
            <a:r>
              <a:rPr b="1"/>
              <a:t> brand voice</a:t>
            </a:r>
            <a:r>
              <a:t> (Module 3)</a:t>
            </a:r>
          </a:p>
          <a:p>
            <a:pPr lvl="1"/>
            <a:r>
              <a:t> A</a:t>
            </a:r>
            <a:r>
              <a:rPr b="1"/>
              <a:t> chain / grounding / reasoning</a:t>
            </a:r>
            <a:r>
              <a:t> step,</a:t>
            </a:r>
            <a:r>
              <a:rPr i="1"/>
              <a:t> only where it earns its place</a:t>
            </a:r>
            <a:r>
              <a:t> (Module 4)</a:t>
            </a:r>
          </a:p>
          <a:p>
            <a:pPr lvl="1"/>
            <a:r>
              <a:t> A</a:t>
            </a:r>
            <a:r>
              <a:rPr b="1"/>
              <a:t> scored evaluation</a:t>
            </a:r>
            <a:r>
              <a:t> against the rubric (Module 5)</a:t>
            </a:r>
          </a:p>
          <a:p>
            <a:pPr lvl="1"/>
            <a:r>
              <a:t> Packaged as a</a:t>
            </a:r>
            <a:r>
              <a:rPr b="1"/>
              <a:t> reusable, documented</a:t>
            </a:r>
            <a:r>
              <a:t> library entry (Module 6)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6599699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The test isn't "it's clever." It's "someone else on my team could run this and get the same result."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You Will Deliver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</a:t>
            </a:r>
            <a:r>
              <a:rPr b="1"/>
              <a:t> working prompt or prompt chain</a:t>
            </a:r>
            <a:r>
              <a:t> that solves a real task.</a:t>
            </a:r>
          </a:p>
          <a:p>
            <a:r>
              <a:t> A</a:t>
            </a:r>
            <a:r>
              <a:rPr b="1"/>
              <a:t> before / after</a:t>
            </a:r>
            <a:r>
              <a:t> — manual vs. AI-assisted, gain named in real numbers.</a:t>
            </a:r>
          </a:p>
          <a:p>
            <a:r>
              <a:t> At least one</a:t>
            </a:r>
            <a:r>
              <a:rPr b="1"/>
              <a:t> deliberate guardrail</a:t>
            </a:r>
            <a:r>
              <a:t> you can explain (source boundary, review step, privacy rule).</a:t>
            </a:r>
          </a:p>
          <a:p>
            <a:r>
              <a:t> A</a:t>
            </a:r>
            <a:r>
              <a:rPr b="1"/>
              <a:t> library entry</a:t>
            </a:r>
            <a:r>
              <a:t> (the Module 6 template) so the prompt is reusable.</a:t>
            </a:r>
          </a:p>
          <a:p>
            <a:r>
              <a:t> A</a:t>
            </a:r>
            <a:r>
              <a:rPr b="1"/>
              <a:t> 30-day adoption plan</a:t>
            </a:r>
            <a:r>
              <a:t> — laptop to team.</a:t>
            </a:r>
          </a:p>
          <a:p>
            <a:r>
              <a:t> A short</a:t>
            </a:r>
            <a:r>
              <a:rPr b="1"/>
              <a:t> demo</a:t>
            </a:r>
            <a:r>
              <a:t> — two to three minutes — showing it run.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038" y="6627481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Six small pieces, not a research project. You have the tools; this is assembly.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Choosing a Good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Pick something</a:t>
            </a:r>
            <a:r>
              <a:rPr b="1"/>
              <a:t> real, recurring, and worth it</a:t>
            </a:r>
            <a:r>
              <a:t> :</a:t>
            </a:r>
          </a:p>
          <a:p>
            <a:pPr lvl="1"/>
            <a:r>
              <a:rPr b="1"/>
              <a:t> Real</a:t>
            </a:r>
            <a:r>
              <a:t> — a task you actually do, not a hypothetical.</a:t>
            </a:r>
          </a:p>
          <a:p>
            <a:pPr lvl="1"/>
            <a:r>
              <a:rPr b="1"/>
              <a:t> Recurring</a:t>
            </a:r>
            <a:r>
              <a:t> — weekly or daily beats once-a-year; reuse is the payoff.</a:t>
            </a:r>
          </a:p>
          <a:p>
            <a:pPr lvl="1"/>
            <a:r>
              <a:rPr b="1"/>
              <a:t> Worth it</a:t>
            </a:r>
            <a:r>
              <a:t> — enough time or friction that a better way matters.</a:t>
            </a:r>
          </a:p>
          <a:p>
            <a:r>
              <a:t> Good candidates: weekly status summaries, support-reply drafting, meeting notes → action items, first-draft JDs, competitive-research digests, RFP answers.</a:t>
            </a:r>
          </a:p>
          <a:p>
            <a:r>
              <a:rPr b="1"/>
              <a:t> Avoid</a:t>
            </a:r>
            <a:r>
              <a:t> : confidential/regulated data in a public tool, one-off tasks, "replace my judgment entirely."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95300" y="6282531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Can't name who benefits and how often? Pick a different task.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Build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You know this loop — now run it end to end on your own task:</a:t>
            </a:r>
          </a:p>
          <a:p>
            <a:pPr lvl="1"/>
            <a:r>
              <a:rPr b="1"/>
              <a:t> Frame</a:t>
            </a:r>
            <a:r>
              <a:t> with the anatomy (role, task, context, constraints, format).</a:t>
            </a:r>
          </a:p>
          <a:p>
            <a:pPr lvl="1"/>
            <a:r>
              <a:rPr b="1"/>
              <a:t> Ground</a:t>
            </a:r>
            <a:r>
              <a:t> in your real source material (attach it; "use only this").</a:t>
            </a:r>
          </a:p>
          <a:p>
            <a:pPr lvl="1"/>
            <a:r>
              <a:rPr b="1"/>
              <a:t> Chain</a:t>
            </a:r>
            <a:r>
              <a:t> </a:t>
            </a:r>
            <a:r>
              <a:rPr i="1"/>
              <a:t> only if</a:t>
            </a:r>
            <a:r>
              <a:t> one prompt can't do it reliably — extract → draft → review.</a:t>
            </a:r>
          </a:p>
          <a:p>
            <a:pPr lvl="1"/>
            <a:r>
              <a:rPr b="1"/>
              <a:t> Evaluate</a:t>
            </a:r>
            <a:r>
              <a:t> against the rubric. Score it; don't eyeball it.</a:t>
            </a:r>
          </a:p>
          <a:p>
            <a:pPr lvl="1"/>
            <a:r>
              <a:rPr b="1"/>
              <a:t> Refine</a:t>
            </a:r>
            <a:r>
              <a:t> — change one thing at a time, re-score.</a:t>
            </a:r>
          </a:p>
          <a:p>
            <a:pPr lvl="1"/>
            <a:r>
              <a:rPr b="1"/>
              <a:t> Package</a:t>
            </a:r>
            <a:r>
              <a:t> the winner as a library entry, saved as a Project / Custom GPT / Gem.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6181344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Don't reach for a chain or reasoning model to look sophisticated. Use the simplest thing that clears the bar.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 It in Your Assistant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Do this in</a:t>
            </a:r>
            <a:r>
              <a:rPr b="1"/>
              <a:t> your own account</a:t>
            </a:r>
            <a:r>
              <a:t> — Claude, ChatGPT, or Gemini.</a:t>
            </a:r>
          </a:p>
          <a:p>
            <a:r>
              <a:t> Save the final version where it's reusable:</a:t>
            </a:r>
          </a:p>
          <a:p>
            <a:pPr lvl="1"/>
            <a:r>
              <a:rPr b="1"/>
              <a:t> Claude → a Project</a:t>
            </a:r>
            <a:r>
              <a:t> — source material and instructions attached.</a:t>
            </a:r>
          </a:p>
          <a:p>
            <a:pPr lvl="1"/>
            <a:r>
              <a:rPr b="1"/>
              <a:t> ChatGPT → a Custom GPT</a:t>
            </a:r>
            <a:r>
              <a:t> — role and files baked in.</a:t>
            </a:r>
          </a:p>
          <a:p>
            <a:pPr lvl="1"/>
            <a:r>
              <a:rPr b="1"/>
              <a:t> Gemini → a Gem</a:t>
            </a:r>
            <a:r>
              <a:t> — standing instructions.</a:t>
            </a:r>
          </a:p>
          <a:p>
            <a:r>
              <a:t> That saved, named assistant</a:t>
            </a:r>
            <a:r>
              <a:rPr i="1"/>
              <a:t> is</a:t>
            </a:r>
            <a:r>
              <a:t> your deliverable running — not a prompt you retype.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95300" y="6739731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A prompt you paste from a doc each time is a draft. A saved Project/GPT/Gem is a product.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Guardrails Are Part of the Grade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Every capstone shows at least one guardrail chosen</a:t>
            </a:r>
            <a:r>
              <a:rPr b="1"/>
              <a:t> on purpose</a:t>
            </a:r>
            <a:r>
              <a:t> :</a:t>
            </a:r>
          </a:p>
          <a:p>
            <a:pPr lvl="1"/>
            <a:r>
              <a:rPr b="1"/>
              <a:t> Source boundary</a:t>
            </a:r>
            <a:r>
              <a:t> — "use only the attached material; if it's not there, say so."</a:t>
            </a:r>
          </a:p>
          <a:p>
            <a:pPr lvl="1"/>
            <a:r>
              <a:rPr b="1"/>
              <a:t> Human review step</a:t>
            </a:r>
            <a:r>
              <a:t> — what a person checks before anything ships.</a:t>
            </a:r>
          </a:p>
          <a:p>
            <a:pPr lvl="1"/>
            <a:r>
              <a:rPr b="1"/>
              <a:t> Privacy rule</a:t>
            </a:r>
            <a:r>
              <a:t> — what data is</a:t>
            </a:r>
            <a:r>
              <a:rPr i="1"/>
              <a:t> not</a:t>
            </a:r>
            <a:r>
              <a:t> allowed near this tool.</a:t>
            </a:r>
          </a:p>
          <a:p>
            <a:pPr lvl="1"/>
            <a:r>
              <a:rPr b="1"/>
              <a:t> Uncertainty flag</a:t>
            </a:r>
            <a:r>
              <a:t> — "mark anything unverified as</a:t>
            </a:r>
            <a:r>
              <a:rPr i="1"/>
              <a:t> needs review</a:t>
            </a:r>
            <a:r>
              <a:t> ."</a:t>
            </a:r>
          </a:p>
          <a:p>
            <a:r>
              <a:t> Name the one failure you're most worried about, and the control that catches it.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6863975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"Where could this be confidently wrong, and who catches it?" — answer that out loud.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30-Day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 prompt only you can run, only today, isn't a win. Plan the handoff:</a:t>
            </a:r>
          </a:p>
          <a:p>
            <a:pPr lvl="1"/>
            <a:r>
              <a:rPr b="1"/>
              <a:t> Week 1</a:t>
            </a:r>
            <a:r>
              <a:t> — use it yourself daily; log where it breaks.</a:t>
            </a:r>
          </a:p>
          <a:p>
            <a:pPr lvl="1"/>
            <a:r>
              <a:rPr b="1"/>
              <a:t> Week 2</a:t>
            </a:r>
            <a:r>
              <a:t> — refine from the log; lock the version; write the library entry.</a:t>
            </a:r>
          </a:p>
          <a:p>
            <a:pPr lvl="1"/>
            <a:r>
              <a:rPr b="1"/>
              <a:t> Week 3</a:t>
            </a:r>
            <a:r>
              <a:t> — hand to one colleague; watch them run it cold; fix what confused them.</a:t>
            </a:r>
          </a:p>
          <a:p>
            <a:pPr lvl="1"/>
            <a:r>
              <a:rPr b="1"/>
              <a:t> Week 4</a:t>
            </a:r>
            <a:r>
              <a:t> — share to the team; set a re-test reminder for the next model update.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19100" y="6282531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The prompt is the easy part. Adoption is the work. Plan for 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Presenting Your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Two to three minutes. Structure:</a:t>
            </a:r>
          </a:p>
          <a:p>
            <a:pPr lvl="1"/>
            <a:r>
              <a:rPr b="1"/>
              <a:t> The problem</a:t>
            </a:r>
            <a:r>
              <a:t> — and how often it happens.</a:t>
            </a:r>
          </a:p>
          <a:p>
            <a:pPr lvl="1"/>
            <a:r>
              <a:rPr b="1"/>
              <a:t> The before</a:t>
            </a:r>
            <a:r>
              <a:t> — how long / how painful manually.</a:t>
            </a:r>
          </a:p>
          <a:p>
            <a:pPr lvl="1"/>
            <a:r>
              <a:rPr b="1"/>
              <a:t> The solution</a:t>
            </a:r>
            <a:r>
              <a:t> — run it live or show the saved output.</a:t>
            </a:r>
          </a:p>
          <a:p>
            <a:pPr lvl="1"/>
            <a:r>
              <a:rPr b="1"/>
              <a:t> The guardrail</a:t>
            </a:r>
            <a:r>
              <a:t> — the risk you designed against.</a:t>
            </a:r>
          </a:p>
          <a:p>
            <a:pPr lvl="1"/>
            <a:r>
              <a:rPr b="1"/>
              <a:t> The plan</a:t>
            </a:r>
            <a:r>
              <a:t> — your next 30 days.</a:t>
            </a:r>
          </a:p>
          <a:p>
            <a:r>
              <a:t> Be honest about limits. "Here's where it still needs me" is a</a:t>
            </a:r>
            <a:r>
              <a:rPr i="1"/>
              <a:t> strength</a:t>
            </a:r>
            <a:r>
              <a:t> .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5596731"/>
            <a:ext cx="7507224" cy="1316736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Scored against the capstone rubric — business fit, prompt quality, technique fit, output quality, safety &amp; judgment, rollout. Aim for all six, not a perfect one.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Good Looks Like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Solves a task the presenter</a:t>
            </a:r>
            <a:r>
              <a:rPr b="1"/>
              <a:t> actually has</a:t>
            </a:r>
            <a:r>
              <a:t> ; payoff named in numbers.</a:t>
            </a:r>
          </a:p>
          <a:p>
            <a:r>
              <a:t> A prompt someone else could run and get the</a:t>
            </a:r>
            <a:r>
              <a:rPr b="1"/>
              <a:t> same</a:t>
            </a:r>
            <a:r>
              <a:t> result.</a:t>
            </a:r>
          </a:p>
          <a:p>
            <a:r>
              <a:t> Advanced technique used</a:t>
            </a:r>
            <a:r>
              <a:rPr b="1"/>
              <a:t> only where it earned its place</a:t>
            </a:r>
            <a:r>
              <a:t> .</a:t>
            </a:r>
          </a:p>
          <a:p>
            <a:r>
              <a:t> A</a:t>
            </a:r>
            <a:r>
              <a:rPr b="1"/>
              <a:t> scored</a:t>
            </a:r>
            <a:r>
              <a:t> before/after, not "it felt faster."</a:t>
            </a:r>
          </a:p>
          <a:p>
            <a:r>
              <a:t> A real</a:t>
            </a:r>
            <a:r>
              <a:rPr b="1"/>
              <a:t> guardrail</a:t>
            </a:r>
            <a:r>
              <a:t> and a real</a:t>
            </a:r>
            <a:r>
              <a:rPr b="1"/>
              <a:t> review step</a:t>
            </a:r>
            <a:r>
              <a:t> that stays.</a:t>
            </a:r>
          </a:p>
          <a:p>
            <a:r>
              <a:t> A concrete</a:t>
            </a:r>
            <a:r>
              <a:rPr b="1"/>
              <a:t> 30-day plan</a:t>
            </a:r>
            <a:r>
              <a:t> , not "I'll use it sometimes."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19100" y="6444906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You leave with a working solution and a plan to apply it — the whole point of two days.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Pc_New">
  <a:themeElements>
    <a:clrScheme name="LPc_New 7">
      <a:dk1>
        <a:srgbClr val="000000"/>
      </a:dk1>
      <a:lt1>
        <a:srgbClr val="FFFFFF"/>
      </a:lt1>
      <a:dk2>
        <a:srgbClr val="CCECFF"/>
      </a:dk2>
      <a:lt2>
        <a:srgbClr val="003399"/>
      </a:lt2>
      <a:accent1>
        <a:srgbClr val="0794FF"/>
      </a:accent1>
      <a:accent2>
        <a:srgbClr val="800080"/>
      </a:accent2>
      <a:accent3>
        <a:srgbClr val="E2F4FF"/>
      </a:accent3>
      <a:accent4>
        <a:srgbClr val="DADADA"/>
      </a:accent4>
      <a:accent5>
        <a:srgbClr val="AAC8FF"/>
      </a:accent5>
      <a:accent6>
        <a:srgbClr val="730073"/>
      </a:accent6>
      <a:hlink>
        <a:srgbClr val="FF0000"/>
      </a:hlink>
      <a:folHlink>
        <a:srgbClr val="FFFFD2"/>
      </a:folHlink>
    </a:clrScheme>
    <a:fontScheme name="LPc_New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lnDef>
  </a:objectDefaults>
  <a:extraClrSchemeLst>
    <a:extraClrScheme>
      <a:clrScheme name="LPc_New 1">
        <a:dk1>
          <a:srgbClr val="000099"/>
        </a:dk1>
        <a:lt1>
          <a:srgbClr val="FFFFFF"/>
        </a:lt1>
        <a:dk2>
          <a:srgbClr val="0000FF"/>
        </a:dk2>
        <a:lt2>
          <a:srgbClr val="FFFF00"/>
        </a:lt2>
        <a:accent1>
          <a:srgbClr val="FF6633"/>
        </a:accent1>
        <a:accent2>
          <a:srgbClr val="FF00FF"/>
        </a:accent2>
        <a:accent3>
          <a:srgbClr val="AAAAFF"/>
        </a:accent3>
        <a:accent4>
          <a:srgbClr val="DADADA"/>
        </a:accent4>
        <a:accent5>
          <a:srgbClr val="FFB8AD"/>
        </a:accent5>
        <a:accent6>
          <a:srgbClr val="E700E7"/>
        </a:accent6>
        <a:hlink>
          <a:srgbClr val="FF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2">
        <a:dk1>
          <a:srgbClr val="000066"/>
        </a:dk1>
        <a:lt1>
          <a:srgbClr val="CCECFF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4">
        <a:dk1>
          <a:srgbClr val="000000"/>
        </a:dk1>
        <a:lt1>
          <a:srgbClr val="FFFFFF"/>
        </a:lt1>
        <a:dk2>
          <a:srgbClr val="660033"/>
        </a:dk2>
        <a:lt2>
          <a:srgbClr val="FFFF66"/>
        </a:lt2>
        <a:accent1>
          <a:srgbClr val="FF0033"/>
        </a:accent1>
        <a:accent2>
          <a:srgbClr val="CC6600"/>
        </a:accent2>
        <a:accent3>
          <a:srgbClr val="B8AAAD"/>
        </a:accent3>
        <a:accent4>
          <a:srgbClr val="DADADA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5">
        <a:dk1>
          <a:srgbClr val="000000"/>
        </a:dk1>
        <a:lt1>
          <a:srgbClr val="FFFFFF"/>
        </a:lt1>
        <a:dk2>
          <a:srgbClr val="CCECFF"/>
        </a:dk2>
        <a:lt2>
          <a:srgbClr val="00008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6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9999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7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0794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AAC8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378293</TotalTime>
  <Words>1132</Words>
  <Application>Microsoft Macintosh PowerPoint</Application>
  <PresentationFormat>Custom</PresentationFormat>
  <Paragraphs>86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Arial Bold</vt:lpstr>
      <vt:lpstr>Garamond</vt:lpstr>
      <vt:lpstr>Monotype Sorts</vt:lpstr>
      <vt:lpstr>Times New Roman</vt:lpstr>
      <vt:lpstr>Verdana</vt:lpstr>
      <vt:lpstr>Wingdings</vt:lpstr>
      <vt:lpstr>LPc_New</vt:lpstr>
      <vt:lpstr>Capstone Project</vt:lpstr>
      <vt:lpstr>Why This Module</vt:lpstr>
      <vt:lpstr>What You Will Deliver</vt:lpstr>
      <vt:lpstr>Choosing a Good Challenge</vt:lpstr>
      <vt:lpstr>The Build Loop</vt:lpstr>
      <vt:lpstr>Build It in Your Assistant</vt:lpstr>
      <vt:lpstr>Guardrails Are Part of the Grade</vt:lpstr>
      <vt:lpstr>The 30-Day Plan</vt:lpstr>
      <vt:lpstr>Presenting Your Solution</vt:lpstr>
      <vt:lpstr>What Good Looks Like</vt:lpstr>
    </vt:vector>
  </TitlesOfParts>
  <Company>Elephant Scale LLC &amp; LearningPatterns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</dc:title>
  <dc:subject>Spark</dc:subject>
  <dc:creator>Elephant Scale</dc:creator>
  <cp:lastModifiedBy>Brent Borgundvaag</cp:lastModifiedBy>
  <cp:revision>4136</cp:revision>
  <cp:lastPrinted>2010-01-03T02:41:41Z</cp:lastPrinted>
  <dcterms:created xsi:type="dcterms:W3CDTF">2010-07-13T15:22:01Z</dcterms:created>
  <dcterms:modified xsi:type="dcterms:W3CDTF">2026-09-14T20:52:47Z</dcterms:modified>
</cp:coreProperties>
</file>