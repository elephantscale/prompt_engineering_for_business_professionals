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13"/>
  </p:notesMasterIdLst>
  <p:handoutMasterIdLst>
    <p:handoutMasterId r:id="rId14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959" autoAdjust="0"/>
    <p:restoredTop sz="86027" autoAdjust="0"/>
  </p:normalViewPr>
  <p:slideViewPr>
    <p:cSldViewPr>
      <p:cViewPr varScale="1">
        <p:scale>
          <a:sx n="90" d="100"/>
          <a:sy n="90" d="100"/>
        </p:scale>
        <p:origin x="3312" y="192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200" b="1" i="0">
                <a:latin typeface="Times New Roman"/>
              </a:rPr>
              <a:t>Advanced Prompt Engineering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This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You can write a strong single prompt. Some work is too big for one.</a:t>
            </a:r>
          </a:p>
          <a:p>
            <a:r>
              <a:t> Four power tools — used</a:t>
            </a:r>
            <a:r>
              <a:rPr b="1"/>
              <a:t> only where they earn their keep</a:t>
            </a:r>
            <a:r>
              <a:t> :</a:t>
            </a:r>
          </a:p>
          <a:p>
            <a:pPr lvl="1"/>
            <a:r>
              <a:rPr b="1"/>
              <a:t> Reasoning models</a:t>
            </a:r>
            <a:r>
              <a:t> — multi-step thinking.</a:t>
            </a:r>
          </a:p>
          <a:p>
            <a:pPr lvl="1"/>
            <a:r>
              <a:rPr b="1"/>
              <a:t> Prompt chaining</a:t>
            </a:r>
            <a:r>
              <a:t> — a big task into reliable steps.</a:t>
            </a:r>
          </a:p>
          <a:p>
            <a:pPr lvl="1"/>
            <a:r>
              <a:rPr b="1"/>
              <a:t> Grounding</a:t>
            </a:r>
            <a:r>
              <a:t> — answers anchored in your documents (the idea behind RAG — no code).</a:t>
            </a:r>
          </a:p>
          <a:p>
            <a:pPr lvl="1"/>
            <a:r>
              <a:rPr b="1"/>
              <a:t> System prompts / saved context</a:t>
            </a:r>
            <a:r>
              <a:t> — consistent behavior.</a:t>
            </a:r>
          </a:p>
          <a:p>
            <a:r>
              <a:t> Plus two power-user habits:</a:t>
            </a:r>
            <a:r>
              <a:rPr b="1"/>
              <a:t> self-review</a:t>
            </a:r>
            <a:r>
              <a:t> , and what</a:t>
            </a:r>
            <a:r>
              <a:rPr b="1"/>
              <a:t> tool-connected</a:t>
            </a:r>
            <a:r>
              <a:t> assistants can and can't do.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6130131"/>
            <a:ext cx="7507224" cy="1316736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Advanced ≠ complicated. It's knowing which extra step removes a real failure — and skipping it when one prompt already works.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Reasoning Models: Let It Think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 reasoning ("thinking") model works through intermediate steps before answering.</a:t>
            </a:r>
          </a:p>
          <a:p>
            <a:r>
              <a:t> Reach for it when a</a:t>
            </a:r>
            <a:r>
              <a:rPr b="1"/>
              <a:t> wrong middle step ruins the result</a:t>
            </a:r>
            <a:r>
              <a:t> :</a:t>
            </a:r>
          </a:p>
          <a:p>
            <a:pPr lvl="1"/>
            <a:r>
              <a:t> multi-criteria comparison, multi-document analysis, planning, anything with math or dependencies.</a:t>
            </a:r>
          </a:p>
          <a:p>
            <a:r>
              <a:t> No more "think step by step" tricks — modern reasoning models do it internally. Pick the model, state the goal clearly.</a:t>
            </a:r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" y="3912579"/>
            <a:ext cx="8915400" cy="5376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95300" y="662748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Fast model to draft; reasoning model to decide. Matching model to job is the whole skill.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Prompt Chaining: One Big Task → Reliable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 single mega-prompt that does everything does each part poorly.</a:t>
            </a:r>
          </a:p>
          <a:p>
            <a:r>
              <a:rPr b="1"/>
              <a:t> Chain</a:t>
            </a:r>
            <a:r>
              <a:t> instead — each step has one job, its output feeds the next:</a:t>
            </a:r>
          </a:p>
          <a:p>
            <a:pPr lvl="1"/>
            <a:r>
              <a:rPr b="1"/>
              <a:t> Extract</a:t>
            </a:r>
            <a:r>
              <a:t> the facts from the raw input.</a:t>
            </a:r>
          </a:p>
          <a:p>
            <a:pPr lvl="1"/>
            <a:r>
              <a:rPr b="1"/>
              <a:t> Draft</a:t>
            </a:r>
            <a:r>
              <a:t> the deliverable from those facts.</a:t>
            </a:r>
          </a:p>
          <a:p>
            <a:pPr lvl="1"/>
            <a:r>
              <a:rPr b="1"/>
              <a:t> Review</a:t>
            </a:r>
            <a:r>
              <a:t> the draft against the requirements.</a:t>
            </a:r>
          </a:p>
          <a:p>
            <a:pPr lvl="1"/>
            <a:r>
              <a:rPr b="1"/>
              <a:t> Revise</a:t>
            </a:r>
            <a:r>
              <a:t> using the review.</a:t>
            </a:r>
          </a:p>
          <a:p>
            <a:r>
              <a:t> Each step is easy to check — errors don't compound silently.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536813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Output of step N = input to step N+1. If a step is unreliable, you've isolated exactly where to fix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Worked Chain: Raw Input → Finished Deliverable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r>
              <a:rPr dirty="0"/>
              <a:t> Same conversation, four turns. You inspect each handoff.</a:t>
            </a:r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1"/>
            <a:ext cx="8915400" cy="184401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71500" y="5100538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This is Lab 04: you'll build this exact chain end to end.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Grounding: Anchor Answers in Your Documents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The single biggest defense against hallucination:</a:t>
            </a:r>
            <a:r>
              <a:rPr b="1"/>
              <a:t> answer from material you give it</a:t>
            </a:r>
            <a:r>
              <a:t> , not memory.</a:t>
            </a:r>
          </a:p>
          <a:p>
            <a:r>
              <a:t> The pattern (the idea behind "RAG," no code):</a:t>
            </a:r>
          </a:p>
          <a:p>
            <a:pPr lvl="1"/>
            <a:r>
              <a:t> Attach or paste the source.</a:t>
            </a:r>
          </a:p>
          <a:p>
            <a:pPr lvl="1"/>
            <a:r>
              <a:t> Instruct:</a:t>
            </a:r>
            <a:r>
              <a:rPr i="1"/>
              <a:t> "answer using only this; quote the relevant line; if it's not here, say 'not in the document'."</a:t>
            </a:r>
          </a:p>
          <a:p>
            <a:r>
              <a:t> Scales from one pasted doc to a saved knowledge base in a Project / Custom GPT / Gem.</a:t>
            </a:r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300" y="4606131"/>
            <a:ext cx="8915400" cy="49177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34950" y="6863975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Remember one technique from two days — remember this 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Prompts &amp; Saved 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</a:t>
            </a:r>
            <a:r>
              <a:rPr b="1"/>
              <a:t> system prompt</a:t>
            </a:r>
            <a:r>
              <a:t> (saved instructions, or a Project/Custom GPT/Gem) sets persistent behavior — no re-explaining every chat.</a:t>
            </a:r>
          </a:p>
          <a:p>
            <a:r>
              <a:t> Good things to bake in:</a:t>
            </a:r>
          </a:p>
          <a:p>
            <a:pPr lvl="1"/>
            <a:r>
              <a:t> role and audience, brand voice, the source boundary rule, your default output format, "flag uncertainty."</a:t>
            </a:r>
          </a:p>
          <a:p>
            <a:r>
              <a:t> Turns a one-off clever prompt into a</a:t>
            </a:r>
            <a:r>
              <a:rPr b="1"/>
              <a:t> reusable, consistent tool</a:t>
            </a:r>
            <a:r>
              <a:t> your team shares — exactly Module 6.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254000" y="567293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Write it once, benefit every run. Just remember saved context is ON — turn it off when comparing fairly.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Self-Review &amp; Refinement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The model is a surprisingly good critic of its own work — asked in a separate step.</a:t>
            </a:r>
          </a:p>
          <a:p>
            <a:pPr lvl="1"/>
            <a:r>
              <a:rPr i="1"/>
              <a:t> "List three ways this draft could be wrong or off-brand, then fix them."</a:t>
            </a:r>
          </a:p>
          <a:p>
            <a:pPr lvl="1"/>
            <a:r>
              <a:rPr i="1"/>
              <a:t> "What did you assume that I didn't tell you? What's missing?"</a:t>
            </a:r>
          </a:p>
          <a:p>
            <a:r>
              <a:t> Works because reviewing ≠ drafting. Separating them catches what a single pass misses.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9100" y="4376657"/>
            <a:ext cx="8001000" cy="122007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 dirty="0">
                <a:solidFill>
                  <a:srgbClr val="333333"/>
                </a:solidFill>
              </a:rPr>
              <a:t>Never ship the first draft. Cheapest quality gain: one "now critique and improve that" turn.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Tool-Connected Assistants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Modern assistants can</a:t>
            </a:r>
            <a:r>
              <a:rPr b="1"/>
              <a:t> search the web, browse, run data analysis, use files/connectors</a:t>
            </a:r>
            <a:r>
              <a:t> .</a:t>
            </a:r>
          </a:p>
          <a:p>
            <a:r>
              <a:t> What that changes:</a:t>
            </a:r>
          </a:p>
          <a:p>
            <a:pPr lvl="1"/>
            <a:r>
              <a:rPr b="1"/>
              <a:t> Search/browse</a:t>
            </a:r>
            <a:r>
              <a:t> pulls in current info — but</a:t>
            </a:r>
            <a:r>
              <a:rPr b="1"/>
              <a:t> verify the citations</a:t>
            </a:r>
            <a:r>
              <a:t> ; they can be wrong or misread.</a:t>
            </a:r>
          </a:p>
          <a:p>
            <a:pPr lvl="1"/>
            <a:r>
              <a:rPr b="1"/>
              <a:t> Data analysis</a:t>
            </a:r>
            <a:r>
              <a:t> runs real calculations on an uploaded file (no formulas from you).</a:t>
            </a:r>
          </a:p>
          <a:p>
            <a:pPr lvl="1"/>
            <a:r>
              <a:rPr b="1"/>
              <a:t> Connectors</a:t>
            </a:r>
            <a:r>
              <a:t> reach into Drive, email, etc. — powerful, and a</a:t>
            </a:r>
            <a:r>
              <a:rPr b="1"/>
              <a:t> privacy decision</a:t>
            </a:r>
            <a:r>
              <a:t> .</a:t>
            </a:r>
          </a:p>
          <a:p>
            <a:r>
              <a:t> Rule of thumb: a tool-connected answer is a</a:t>
            </a:r>
            <a:r>
              <a:rPr i="1"/>
              <a:t> lead</a:t>
            </a:r>
            <a:r>
              <a:t> , not a</a:t>
            </a:r>
            <a:r>
              <a:rPr i="1"/>
              <a:t> verdict</a:t>
            </a:r>
            <a:r>
              <a:t> , until you check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When NOT to Use the Advanced Stuff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 chain for a task one good prompt handles = wasted effort, more to break.</a:t>
            </a:r>
          </a:p>
          <a:p>
            <a:r>
              <a:t> A reasoning model for "reword this" = slow for no gain.</a:t>
            </a:r>
          </a:p>
          <a:p>
            <a:r>
              <a:t> Grounding is the exception —</a:t>
            </a:r>
            <a:r>
              <a:rPr b="1"/>
              <a:t> almost always worth it</a:t>
            </a:r>
            <a:r>
              <a:t> when facts matter.</a:t>
            </a:r>
          </a:p>
          <a:p>
            <a:r>
              <a:t> Ask:</a:t>
            </a:r>
            <a:r>
              <a:rPr i="1"/>
              <a:t> does this step remove a failure I actually see?</a:t>
            </a:r>
            <a:r>
              <a:t> If not, skip it.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9100" y="536813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The senior move is often removing a step, not adding one.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Lab: Build a Multi-Step Chain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Take raw input (messy notes or a support thread) through a four-step chain — extract → draft → review → revise — to a finished, self-reviewed deliverable.</a:t>
            </a:r>
          </a:p>
          <a:p>
            <a:r>
              <a:t> Ground it in a source; inspect every handoff.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300" y="468233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You leave with a chain you can paste and reuse for your own recurring deliverable.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378293</TotalTime>
  <Words>1014</Words>
  <Application>Microsoft Macintosh PowerPoint</Application>
  <PresentationFormat>Custom</PresentationFormat>
  <Paragraphs>81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Arial</vt:lpstr>
      <vt:lpstr>Arial Bold</vt:lpstr>
      <vt:lpstr>Garamond</vt:lpstr>
      <vt:lpstr>Monotype Sorts</vt:lpstr>
      <vt:lpstr>Times New Roman</vt:lpstr>
      <vt:lpstr>Verdana</vt:lpstr>
      <vt:lpstr>Wingdings</vt:lpstr>
      <vt:lpstr>LPc_New</vt:lpstr>
      <vt:lpstr>Advanced Prompt Engineering Techniques</vt:lpstr>
      <vt:lpstr>Why This Module</vt:lpstr>
      <vt:lpstr>Reasoning Models: Let It Think</vt:lpstr>
      <vt:lpstr>Prompt Chaining: One Big Task → Reliable Steps</vt:lpstr>
      <vt:lpstr>Worked Chain: Raw Input → Finished Deliverable</vt:lpstr>
      <vt:lpstr>Grounding: Anchor Answers in Your Documents</vt:lpstr>
      <vt:lpstr>System Prompts &amp; Saved Context</vt:lpstr>
      <vt:lpstr>Self-Review &amp; Refinement</vt:lpstr>
      <vt:lpstr>Tool-Connected Assistants</vt:lpstr>
      <vt:lpstr>When NOT to Use the Advanced Stuff</vt:lpstr>
      <vt:lpstr>The Lab: Build a Multi-Step Chain</vt:lpstr>
    </vt:vector>
  </TitlesOfParts>
  <Company>Elephant Scale LLC &amp; LearningPatterns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Brent Borgundvaag</cp:lastModifiedBy>
  <cp:revision>4136</cp:revision>
  <cp:lastPrinted>2010-01-03T02:41:41Z</cp:lastPrinted>
  <dcterms:created xsi:type="dcterms:W3CDTF">2010-07-13T15:22:01Z</dcterms:created>
  <dcterms:modified xsi:type="dcterms:W3CDTF">2026-09-14T20:41:36Z</dcterms:modified>
</cp:coreProperties>
</file>